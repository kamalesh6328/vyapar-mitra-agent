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262" r:id="rId28"/>
    <p:sldId id="293" r:id="rId29"/>
    <p:sldId id="264" r:id="rId30"/>
    <p:sldId id="277" r:id="rId31"/>
    <p:sldId id="286" r:id="rId32"/>
    <p:sldId id="287" r:id="rId33"/>
    <p:sldId id="280" r:id="rId34"/>
    <p:sldId id="289" r:id="rId35"/>
    <p:sldId id="290" r:id="rId36"/>
    <p:sldId id="291" r:id="rId37"/>
    <p:sldId id="292" r:id="rId38"/>
    <p:sldId id="294" r:id="rId3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66" autoAdjust="0"/>
  </p:normalViewPr>
  <p:slideViewPr>
    <p:cSldViewPr snapToGrid="0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408176" y="366554"/>
            <a:ext cx="886053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dirty="0">
                <a:solidFill>
                  <a:srgbClr val="0F2A4A"/>
                </a:solidFill>
                <a:latin typeface="Arial"/>
              </a:rPr>
              <a:t>IBM University Engagement Project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" y="1651962"/>
            <a:ext cx="96012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dirty="0">
                <a:solidFill>
                  <a:srgbClr val="1E5AA0"/>
                </a:solidFill>
                <a:latin typeface="Arial"/>
              </a:rPr>
              <a:t>“</a:t>
            </a:r>
            <a:r>
              <a:rPr sz="4800" b="1" dirty="0" err="1">
                <a:solidFill>
                  <a:srgbClr val="1E5AA0"/>
                </a:solidFill>
                <a:latin typeface="Arial"/>
              </a:rPr>
              <a:t>Vyapar</a:t>
            </a:r>
            <a:r>
              <a:rPr sz="4800" b="1" dirty="0">
                <a:solidFill>
                  <a:srgbClr val="1E5AA0"/>
                </a:solidFill>
                <a:latin typeface="Arial"/>
              </a:rPr>
              <a:t> Mitra”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2712799"/>
            <a:ext cx="886968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Agentic AI for Street Vendor Digitalization &amp; Financial Inclusion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932525"/>
            <a:ext cx="73152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IBM watsonx.ai • IBM Granite AI • IBM 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4562475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dirty="0">
                <a:solidFill>
                  <a:srgbClr val="5F6973"/>
                </a:solidFill>
                <a:latin typeface="Arial"/>
              </a:rPr>
              <a:t>Problem Statement #29 – Street Vendor Digitalization Agent</a:t>
            </a:r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084560918"/>
              </p:ext>
            </p:extLst>
          </p:nvPr>
        </p:nvGraphicFramePr>
        <p:xfrm>
          <a:off x="539656" y="3821037"/>
          <a:ext cx="10719588" cy="2716923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55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7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7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7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201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677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/>
                        <a:t>Kamalesh M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Kamaleshmurugappan@gmail.com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 dirty="0"/>
                        <a:t>94874 64462</a:t>
                      </a:r>
                      <a:endParaRPr sz="3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dirty="0"/>
          </a:p>
        </p:txBody>
      </p:sp>
      <p:sp>
        <p:nvSpPr>
          <p:cNvPr id="99" name="TextBox 98"/>
          <p:cNvSpPr txBox="1"/>
          <p:nvPr/>
        </p:nvSpPr>
        <p:spPr>
          <a:xfrm>
            <a:off x="548640" y="320040"/>
            <a:ext cx="100584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F2A4A"/>
                </a:solidFill>
                <a:latin typeface="Arial"/>
              </a:rPr>
              <a:t>Project Domain &amp; Title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7418" y="877824"/>
            <a:ext cx="47548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41248" y="959401"/>
            <a:ext cx="4535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E5AA0"/>
                </a:solidFill>
                <a:latin typeface="Arial"/>
              </a:rPr>
              <a:t>DOMAIN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50976" y="1327079"/>
            <a:ext cx="453542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Financial Inclusion • Small Business Digitalization • Agentic AI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730325" y="859210"/>
            <a:ext cx="5421928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766393" y="958707"/>
            <a:ext cx="43525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228B5E"/>
                </a:solidFill>
                <a:latin typeface="Arial"/>
              </a:rPr>
              <a:t>PROJECT TITLE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99450" y="1327079"/>
            <a:ext cx="435254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 err="1">
                <a:solidFill>
                  <a:srgbClr val="191E23"/>
                </a:solidFill>
                <a:latin typeface="Arial"/>
              </a:rPr>
              <a:t>Vyapar</a:t>
            </a:r>
            <a:r>
              <a:rPr sz="2000" b="0" dirty="0">
                <a:solidFill>
                  <a:srgbClr val="191E23"/>
                </a:solidFill>
                <a:latin typeface="Arial"/>
              </a:rPr>
              <a:t> Mitra – Street Vendor Digitalization &amp; Micro-Credit Agent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57418" y="2468554"/>
            <a:ext cx="10410809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86968" y="2476543"/>
            <a:ext cx="9381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704CAA"/>
                </a:solidFill>
                <a:latin typeface="Arial"/>
              </a:rPr>
              <a:t>CORE IDEA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0581" y="2745965"/>
            <a:ext cx="9381744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A multilingual AI assistant that helps street vendors build a digital storefront, track micro-business finances, access government</a:t>
            </a:r>
            <a:r>
              <a:rPr lang="en-US" sz="1800" b="0" dirty="0">
                <a:solidFill>
                  <a:srgbClr val="191E23"/>
                </a:solidFill>
                <a:latin typeface="Arial"/>
              </a:rPr>
              <a:t> schemes</a:t>
            </a:r>
            <a:r>
              <a:rPr sz="1800" b="0" dirty="0">
                <a:solidFill>
                  <a:srgbClr val="191E23"/>
                </a:solidFill>
                <a:latin typeface="Arial"/>
              </a:rPr>
              <a:t>, understand local market opportunities and generate digital payment / promotional assets.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60D86-DDBC-AB85-FC02-67AA90895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5091727"/>
            <a:ext cx="1307592" cy="1446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F2A4A"/>
                </a:solidFill>
                <a:latin typeface="Arial"/>
              </a:rPr>
              <a:t>Problem Statement – </a:t>
            </a:r>
            <a:r>
              <a:rPr sz="3600" b="1" dirty="0" err="1">
                <a:solidFill>
                  <a:srgbClr val="0F2A4A"/>
                </a:solidFill>
                <a:latin typeface="Arial"/>
              </a:rPr>
              <a:t>Vyapar</a:t>
            </a:r>
            <a:r>
              <a:rPr sz="3600" b="1" dirty="0">
                <a:solidFill>
                  <a:srgbClr val="0F2A4A"/>
                </a:solidFill>
                <a:latin typeface="Arial"/>
              </a:rPr>
              <a:t> Mitra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BE3737"/>
                </a:solidFill>
                <a:latin typeface="Arial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9509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000">
                <a:solidFill>
                  <a:srgbClr val="191E23"/>
                </a:solidFill>
                <a:latin typeface="Arial"/>
              </a:rPr>
              <a:t>Street vendors often operate with limited digital presence, informal bookkeeping and low access to structured financial services.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000">
                <a:solidFill>
                  <a:srgbClr val="191E23"/>
                </a:solidFill>
                <a:latin typeface="Arial"/>
              </a:rPr>
              <a:t>Important support such as UPI setup, government schemes, online commerce, market information and business promotion is fragmented.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000">
                <a:solidFill>
                  <a:srgbClr val="191E23"/>
                </a:solidFill>
                <a:latin typeface="Arial"/>
              </a:rPr>
              <a:t>Language and digital-literacy barriers make many existing tools difficult to use for everyday vendor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228B5E"/>
                </a:solidFill>
                <a:latin typeface="Arial"/>
              </a:rPr>
              <a:t>The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35100"/>
            <a:ext cx="9509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000" dirty="0">
                <a:solidFill>
                  <a:srgbClr val="191E23"/>
                </a:solidFill>
                <a:latin typeface="Arial"/>
              </a:rPr>
              <a:t>Provide one conversational AI agent that converts simple vendor requests into practical business actions.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000" dirty="0">
                <a:solidFill>
                  <a:srgbClr val="191E23"/>
                </a:solidFill>
                <a:latin typeface="Arial"/>
              </a:rPr>
              <a:t>Digitize payments, storefront presence, bookkeeping, scheme preparation, market insights and promotional content.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sz="2000" dirty="0">
                <a:solidFill>
                  <a:srgbClr val="191E23"/>
                </a:solidFill>
                <a:latin typeface="Arial"/>
              </a:rPr>
              <a:t>Improve financial visibility and digital readiness while keeping the experience multilingual and easy to use.</a:t>
            </a:r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12063" y="1161288"/>
            <a:ext cx="106070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Proposed Solution – AI-Powered Vyapar Mitra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5AA0"/>
                </a:solidFill>
                <a:latin typeface="Arial"/>
              </a:rPr>
              <a:t>An agentic, modular business assistant for street vendors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1700784"/>
            <a:ext cx="3154680" cy="21305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764792"/>
            <a:ext cx="29352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E5AA0"/>
                </a:solidFill>
                <a:latin typeface="Arial"/>
              </a:rPr>
              <a:t>Digital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264360"/>
            <a:ext cx="293522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Creates a business profile, pricing tips, UPI setup guidance and promotional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91640"/>
            <a:ext cx="3154680" cy="21396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1755649"/>
            <a:ext cx="2935224" cy="3770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 dirty="0">
                <a:solidFill>
                  <a:srgbClr val="228B5E"/>
                </a:solidFill>
                <a:latin typeface="Arial"/>
              </a:rPr>
              <a:t>Digital Readiness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2103120"/>
            <a:ext cx="2935224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Scores UPI, Maps, ONDC and government-scheme formalization, then recommends next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691640"/>
            <a:ext cx="3154680" cy="21396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07807" y="1764792"/>
            <a:ext cx="29352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67E22"/>
                </a:solidFill>
                <a:latin typeface="Arial"/>
              </a:rPr>
              <a:t>Micro-Accounting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7" y="2103120"/>
            <a:ext cx="293522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Accepts natural-language sales/expense entries, calculates profit and exports reports.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69664"/>
            <a:ext cx="3154680" cy="240090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297680"/>
            <a:ext cx="293522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704CAA"/>
                </a:solidFill>
                <a:latin typeface="Arial"/>
              </a:rPr>
              <a:t>Market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4784901"/>
            <a:ext cx="2935224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Uses knowledge/RAG data for mandi information, demand and hyperlocal selling advice.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4169664"/>
            <a:ext cx="3154680" cy="240090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97096" y="4297680"/>
            <a:ext cx="29352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BE3737"/>
                </a:solidFill>
                <a:latin typeface="Arial"/>
              </a:rPr>
              <a:t>Government Schemes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88536" y="4784901"/>
            <a:ext cx="293522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Generates a PM </a:t>
            </a:r>
            <a:r>
              <a:rPr sz="2000" b="0" dirty="0" err="1">
                <a:solidFill>
                  <a:srgbClr val="191E23"/>
                </a:solidFill>
                <a:latin typeface="Arial"/>
              </a:rPr>
              <a:t>SVANidhi</a:t>
            </a:r>
            <a:r>
              <a:rPr sz="2000" b="0" dirty="0">
                <a:solidFill>
                  <a:srgbClr val="191E23"/>
                </a:solidFill>
                <a:latin typeface="Arial"/>
              </a:rPr>
              <a:t> application kit, document checklist and application steps.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4169664"/>
            <a:ext cx="3154680" cy="239176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62671" y="4297680"/>
            <a:ext cx="29352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8080"/>
                </a:solidFill>
                <a:latin typeface="Arial"/>
              </a:rPr>
              <a:t>ONDC + Promotion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4743510"/>
            <a:ext cx="2935224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Creates an ONDC-style catalogue, UPI QR and stall poster assets for digital commerce.</a:t>
            </a:r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dirty="0">
                <a:solidFill>
                  <a:srgbClr val="0F2A4A"/>
                </a:solidFill>
                <a:latin typeface="Arial"/>
              </a:rPr>
              <a:t>Technology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4709160" cy="12161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04088" y="1225296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5AA0"/>
                </a:solidFill>
                <a:latin typeface="Arial"/>
              </a:rPr>
              <a:t>IBM Bob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448970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AI-assisted project development, coding and iterative implementation</a:t>
            </a:r>
            <a:r>
              <a:rPr sz="1100" b="0" dirty="0">
                <a:solidFill>
                  <a:srgbClr val="191E23"/>
                </a:solidFill>
                <a:latin typeface="Arial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43000"/>
            <a:ext cx="4709160" cy="1229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88152" y="1207008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704CAA"/>
                </a:solidFill>
                <a:latin typeface="Arial"/>
              </a:rPr>
              <a:t>IBM watsonx.ai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1495365"/>
            <a:ext cx="4489704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AI/model platform layer for enterprise-grade model access, deployment and governance</a:t>
            </a:r>
            <a:r>
              <a:rPr sz="1100" b="0" dirty="0">
                <a:solidFill>
                  <a:srgbClr val="191E23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514600"/>
            <a:ext cx="4709160" cy="1271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4088" y="2535114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28B5E"/>
                </a:solidFill>
                <a:latin typeface="Arial"/>
              </a:rPr>
              <a:t>IBM Granite AI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22591"/>
            <a:ext cx="448970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Natural-language understanding, reasoning, response generation and personalization.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514600"/>
            <a:ext cx="4709160" cy="1271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79008" y="2542032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67E22"/>
                </a:solidFill>
                <a:latin typeface="Arial"/>
              </a:rPr>
              <a:t>Agentic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2935224"/>
            <a:ext cx="448970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Intent routing and mode-based task execution across business functions</a:t>
            </a:r>
            <a:r>
              <a:rPr sz="1100" b="0" dirty="0">
                <a:solidFill>
                  <a:srgbClr val="191E23"/>
                </a:solidFill>
                <a:latin typeface="Arial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49624"/>
            <a:ext cx="4709160" cy="12710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3867912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8080"/>
                </a:solidFill>
                <a:latin typeface="Arial"/>
              </a:rPr>
              <a:t>RAG / 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154156"/>
            <a:ext cx="448970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Retrieval layer for schemes, fintech guidance, platforms, mandi and supporting business knowledge.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3849624"/>
            <a:ext cx="4709160" cy="12070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79008" y="3809215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 err="1">
                <a:solidFill>
                  <a:srgbClr val="0F2A4A"/>
                </a:solidFill>
                <a:latin typeface="Arial"/>
              </a:rPr>
              <a:t>FastAPI</a:t>
            </a:r>
            <a:r>
              <a:rPr sz="2000" b="1" dirty="0">
                <a:solidFill>
                  <a:srgbClr val="0F2A4A"/>
                </a:solidFill>
                <a:latin typeface="Arial"/>
              </a:rPr>
              <a:t> +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4067967"/>
            <a:ext cx="448970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Backend APIs, agent orchestration, ledger, catalogue, scheme and asset-generation services.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184648"/>
            <a:ext cx="4709160" cy="15407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4088" y="5303520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5AA0"/>
                </a:solidFill>
                <a:latin typeface="Arial"/>
              </a:rPr>
              <a:t>HTML / Tailwind / 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5658284"/>
            <a:ext cx="448970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Responsive vendor dashboard with chat, reports, store, loan, ONDC, Maps and studio views.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5184648"/>
            <a:ext cx="4709160" cy="154070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F69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88152" y="5287458"/>
            <a:ext cx="448970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5F6973"/>
                </a:solidFill>
                <a:latin typeface="Arial"/>
              </a:rPr>
              <a:t>Chart.js / Browser APIs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88152" y="5715000"/>
            <a:ext cx="448970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Sales visualization, QR/promotion UI and interactive frontend </a:t>
            </a:r>
            <a:r>
              <a:rPr sz="2000" b="0" dirty="0" err="1">
                <a:solidFill>
                  <a:srgbClr val="191E23"/>
                </a:solidFill>
                <a:latin typeface="Arial"/>
              </a:rPr>
              <a:t>behaviour</a:t>
            </a:r>
            <a:r>
              <a:rPr sz="2000" b="0" dirty="0">
                <a:solidFill>
                  <a:srgbClr val="191E23"/>
                </a:solidFill>
                <a:latin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749808" y="1244522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54" name="TextBox 153"/>
          <p:cNvSpPr txBox="1"/>
          <p:nvPr/>
        </p:nvSpPr>
        <p:spPr>
          <a:xfrm>
            <a:off x="548640" y="320040"/>
            <a:ext cx="100584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Vyapar</a:t>
            </a:r>
            <a:r>
              <a:rPr lang="en-IN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Mitra </a:t>
            </a:r>
            <a:r>
              <a:rPr sz="2800" b="1" dirty="0">
                <a:solidFill>
                  <a:srgbClr val="0F2A4A"/>
                </a:solidFill>
                <a:latin typeface="Arial"/>
              </a:rPr>
              <a:t>Agent Components &amp; Functional Modules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669280" y="1143000"/>
            <a:ext cx="4663440" cy="804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5669275" y="1106425"/>
            <a:ext cx="444398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E5AA0"/>
                </a:solidFill>
                <a:latin typeface="Arial"/>
              </a:rPr>
              <a:t>Chat Input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732381" y="1499815"/>
            <a:ext cx="444398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91E23"/>
                </a:solidFill>
                <a:latin typeface="Arial"/>
              </a:rPr>
              <a:t>Vendor query, preference or transaction text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669280" y="2056326"/>
            <a:ext cx="4663440" cy="81381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5732383" y="2029483"/>
            <a:ext cx="444398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704CAA"/>
                </a:solidFill>
                <a:latin typeface="Arial"/>
              </a:rPr>
              <a:t>AI Agent / Granite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732382" y="2285366"/>
            <a:ext cx="4443983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91E23"/>
                </a:solidFill>
                <a:latin typeface="Arial"/>
              </a:rPr>
              <a:t>Interprets intent and generates the appropriate response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40080" y="1143000"/>
            <a:ext cx="4663440" cy="171631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94468" y="1312633"/>
            <a:ext cx="4443983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E67E22"/>
                </a:solidFill>
                <a:latin typeface="Arial"/>
              </a:rPr>
              <a:t>Intent Router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94468" y="1809019"/>
            <a:ext cx="4443983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Routes request to onboarding, score, ledger, market, loan, ONDC, Maps or poster mode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5669280" y="2990088"/>
            <a:ext cx="4663440" cy="81381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5732382" y="2906716"/>
            <a:ext cx="444398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8080"/>
                </a:solidFill>
                <a:latin typeface="Arial"/>
              </a:rPr>
              <a:t>RAG Engine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759813" y="3162351"/>
            <a:ext cx="444398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Retrieves relevant scheme, fintech, platform and market knowledge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640080" y="2996594"/>
            <a:ext cx="4663440" cy="82284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701804" y="2951418"/>
            <a:ext cx="444398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28B5E"/>
                </a:solidFill>
                <a:latin typeface="Arial"/>
              </a:rPr>
              <a:t>Micro Ledger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17805" y="3228725"/>
            <a:ext cx="444398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Stores transactions and calculates sales, expenses, profit and margin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5669280" y="3950209"/>
            <a:ext cx="4663440" cy="877823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5732382" y="3894518"/>
            <a:ext cx="444398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BE3737"/>
                </a:solidFill>
                <a:latin typeface="Arial"/>
              </a:rPr>
              <a:t>Asset Generators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779005" y="4195880"/>
            <a:ext cx="444398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UPI QR, stall poster and ONDC catalogue generation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94468" y="3944240"/>
            <a:ext cx="4663440" cy="877823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737284" y="3888619"/>
            <a:ext cx="444398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5AA0"/>
                </a:solidFill>
                <a:latin typeface="Arial"/>
              </a:rPr>
              <a:t>Chat Output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49808" y="4178152"/>
            <a:ext cx="444398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Returns actionable answer, checklist, report or generated business asset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32103" y="5543175"/>
            <a:ext cx="95097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0F2A4A"/>
                </a:solidFill>
                <a:latin typeface="Arial"/>
              </a:rPr>
              <a:t>Key design principle: one conversational entry point → specialized task execution → actionable output.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>
              <a:sym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Vyapar Mitra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143000" cy="105156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1. Vendor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Text / chat 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45920" y="2441448"/>
            <a:ext cx="18288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28800" y="1920240"/>
            <a:ext cx="1143000" cy="105156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2. Session &amp;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Load vendor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2441448"/>
            <a:ext cx="18288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54680" y="1920240"/>
            <a:ext cx="1143000" cy="105156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3. Intent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Classify business task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97680" y="2441448"/>
            <a:ext cx="18288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1920240"/>
            <a:ext cx="1143000" cy="105156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4. Agentic Routing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Select specialized mode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23560" y="2441448"/>
            <a:ext cx="18288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06440" y="1920240"/>
            <a:ext cx="1143000" cy="105156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5. Knowledge /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RAG + ledger + profile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0" y="2441448"/>
            <a:ext cx="18288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0" y="1920240"/>
            <a:ext cx="1143000" cy="1051560"/>
          </a:xfrm>
          <a:prstGeom prst="roundRect">
            <a:avLst/>
          </a:prstGeom>
          <a:solidFill>
            <a:srgbClr val="EEE6FA"/>
          </a:solidFill>
          <a:ln w="1905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6. Granite / watsonx.ai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Reason + generate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75320" y="2441448"/>
            <a:ext cx="18288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458200" y="1920240"/>
            <a:ext cx="1143000" cy="1051560"/>
          </a:xfrm>
          <a:prstGeom prst="roundRect">
            <a:avLst/>
          </a:prstGeom>
          <a:solidFill>
            <a:srgbClr val="E8F7EE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7. Action / 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035808"/>
            <a:ext cx="1051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Report, loan kit, catalogue, QR, poster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01200" y="2441448"/>
            <a:ext cx="45720" cy="0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646920" y="1920240"/>
            <a:ext cx="914400" cy="105156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F2A4A"/>
                </a:solidFill>
                <a:latin typeface="Arial"/>
              </a:rPr>
              <a:t>8. Feedback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035808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F6973"/>
                </a:solidFill>
                <a:latin typeface="Arial"/>
              </a:rPr>
              <a:t>Update score/profile/ledger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069080"/>
            <a:ext cx="9601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0F2A4A"/>
                </a:solidFill>
                <a:latin typeface="Arial"/>
              </a:rPr>
              <a:t>Example: “I spent ₹300 on ice and sold fruits for ₹1,500” → intent = ledger → natural-language parsing → transaction logging → profit calculation → confirmation/report.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D196-4C3C-4772-F151-44CB2CA73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EA1D6-394C-82B3-DE74-428F9990B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667BE5-3C2B-7D62-0585-B26AFB207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77" y="0"/>
            <a:ext cx="11437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B0D7-7686-5E14-0F3A-2FD77E99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5788-C31D-0D9C-372C-CEAD612DF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601D7-8F16-262B-C397-C21D74D9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201"/>
            <a:ext cx="11480800" cy="624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25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367D5-F3B5-D25C-9DF3-6702FFD8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FA675-F334-7889-A29C-DFAD35502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C70D2-2119-1CBE-1A6A-37341EE3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72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05A7-F768-1CF3-5410-C6A65163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E859EE-1D88-2E03-CD37-200EECD1CE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AB4D0-E03F-0EC8-C9F3-C5D7F1942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6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DB5AB-1044-1940-1777-FCDB7C65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B6569-C0A4-4E0D-2A93-DFB7B3568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1D20F-9B55-028E-D246-099BFF2C6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79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1960-24F9-DC8E-8C8C-1B472380E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7A5C-A5E0-F967-C74A-45B3EC05D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74777D-6A0E-88C5-6EAF-167C287E3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83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A2D0-FD76-8A48-9356-27C7B0E20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8339C-DC24-2238-E075-E249B56A4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8C0270-E982-1350-3B47-DAAF1C293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8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BC85-7475-5475-FAB2-DFB8C90E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1A09D-5EE0-0571-0934-1ECF11D44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6A455-85BE-6D0E-2491-83B5CC37F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061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637A-35E5-D231-F22F-4D39036B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76C57-B1E1-EA05-D74A-C71FC7BE5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55830A-0CD9-C81E-8F57-8BFADB936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67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3F66-0323-8763-C722-2116C33E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63C47-3C30-FDB2-04F2-95B4A3FA1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F4889E-492F-1D9C-E168-0A72BF076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45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49EB-5A15-FAF3-CAEB-0DCD10AE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7987-4999-90BC-E532-B73E53493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21B76D-43CA-B9EF-ABC8-512A9E528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17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D38D3-2616-E74A-88F7-2383905C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11145-2224-596E-59A3-CDE051F82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AD508-F6F1-AE2F-5F1A-84C6CE4D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09" y="581890"/>
            <a:ext cx="10086109" cy="627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92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5092-FEE9-3A77-CD43-C5A0F3A5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68166-2145-75EF-E1AF-53F5DC8B36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055F8-B4E8-E87A-A7F9-7AE0BFF1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203201"/>
            <a:ext cx="10673195" cy="64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97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9F9B-7A74-AE73-52CB-2DB971F2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9B683-D951-6F66-0190-AB199316C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FFCDA-9604-E95B-43F1-B85FADE3F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561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801D-291F-7C3A-F465-A08085A6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E7723-22BC-4E43-1797-4DCF90377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91B28A-4FC6-EE83-BF3F-CEBFFCEE9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152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4207B-7BF1-BB44-3967-79F13BD9F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0173C-A00F-26EE-0DB8-EBADC3D9D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93E6A-141A-AFA9-DEA2-32F049F9B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258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9206D-AA83-09E0-A3C7-A36BA8FB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497E9-AEAD-C714-3709-9AC68B964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9C04A5-2C3E-17D8-3A6E-897C4833E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01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550D-9CAA-440E-AB50-ACE3AA46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774F3-4C1A-AFC5-90C3-C95C00DF1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EF8D6-0887-0144-6FA9-B448DD77C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511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5B2B-676A-E5DA-BD69-A2EB0A33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D514E-8017-9BCC-F007-236964C71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FC2B8E-52DD-A02E-8233-DCE605199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56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endParaRPr lang="en-US" sz="2400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F2A4A"/>
                </a:solidFill>
                <a:latin typeface="Arial"/>
              </a:rPr>
              <a:t>Architecture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011680" cy="658368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F2A4A"/>
                </a:solidFill>
                <a:latin typeface="Arial"/>
              </a:rPr>
              <a:t>VENDOR /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143000"/>
            <a:ext cx="2194560" cy="658368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F2A4A"/>
                </a:solidFill>
                <a:latin typeface="Arial"/>
              </a:rPr>
              <a:t>WEB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143000"/>
            <a:ext cx="2194560" cy="658368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0F2A4A"/>
                </a:solidFill>
                <a:latin typeface="Arial"/>
              </a:rPr>
              <a:t>FASTAPI 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143000"/>
            <a:ext cx="2194560" cy="658368"/>
          </a:xfrm>
          <a:prstGeom prst="roundRect">
            <a:avLst/>
          </a:prstGeom>
          <a:solidFill>
            <a:srgbClr val="EEE6FA"/>
          </a:solidFill>
          <a:ln w="1905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2A4A"/>
                </a:solidFill>
                <a:latin typeface="Arial"/>
              </a:rPr>
              <a:t>AGENT ORCHESTRATOR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1472184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29200" y="1472184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98079" y="1472184"/>
            <a:ext cx="274321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240280"/>
            <a:ext cx="2011680" cy="777240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2A4A"/>
                </a:solidFill>
                <a:latin typeface="Arial"/>
              </a:rPr>
              <a:t>Intent / Session</a:t>
            </a:r>
            <a:br/>
            <a:r>
              <a:rPr sz="1400" b="1">
                <a:solidFill>
                  <a:srgbClr val="0F2A4A"/>
                </a:solidFill>
                <a:latin typeface="Arial"/>
              </a:rPr>
              <a:t>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240280"/>
            <a:ext cx="2011680" cy="777240"/>
          </a:xfrm>
          <a:prstGeom prst="roundRect">
            <a:avLst/>
          </a:prstGeom>
          <a:solidFill>
            <a:srgbClr val="EEE6FA"/>
          </a:solidFill>
          <a:ln w="1905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2A4A"/>
                </a:solidFill>
                <a:latin typeface="Arial"/>
              </a:rPr>
              <a:t>IBM Granite AI</a:t>
            </a:r>
            <a:br/>
            <a:r>
              <a:rPr sz="1400" b="1">
                <a:solidFill>
                  <a:srgbClr val="0F2A4A"/>
                </a:solidFill>
                <a:latin typeface="Arial"/>
              </a:rPr>
              <a:t>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240280"/>
            <a:ext cx="2011680" cy="777240"/>
          </a:xfrm>
          <a:prstGeom prst="roundRect">
            <a:avLst/>
          </a:prstGeom>
          <a:solidFill>
            <a:srgbClr val="EEE6FA"/>
          </a:solidFill>
          <a:ln w="1905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2A4A"/>
                </a:solidFill>
                <a:latin typeface="Arial"/>
              </a:rPr>
              <a:t>IBM watsonx.ai</a:t>
            </a:r>
            <a:br/>
            <a:r>
              <a:rPr sz="1400" b="1">
                <a:solidFill>
                  <a:srgbClr val="0F2A4A"/>
                </a:solidFill>
                <a:latin typeface="Arial"/>
              </a:rPr>
              <a:t>Model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240280"/>
            <a:ext cx="2468880" cy="777240"/>
          </a:xfrm>
          <a:prstGeom prst="roundRect">
            <a:avLst/>
          </a:prstGeom>
          <a:solidFill>
            <a:srgbClr val="E8F7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F2A4A"/>
                </a:solidFill>
                <a:latin typeface="Arial"/>
              </a:rPr>
              <a:t>RAG Knowledge</a:t>
            </a:r>
            <a:br/>
            <a:r>
              <a:rPr sz="1400" b="1">
                <a:solidFill>
                  <a:srgbClr val="0F2A4A"/>
                </a:solidFill>
                <a:latin typeface="Arial"/>
              </a:rPr>
              <a:t>Retriever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262432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92040" y="262432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78040" y="2624328"/>
            <a:ext cx="27432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5204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Digital Onboarding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5204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Digital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32120" y="35204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Micro Ledger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5204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Market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348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PM SVANidhi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44348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ONDC Catalogue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2120" y="44348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QR / Poster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434840"/>
            <a:ext cx="2148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Maps / Local SEO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94960"/>
            <a:ext cx="2468880" cy="566928"/>
          </a:xfrm>
          <a:prstGeom prst="roundRect">
            <a:avLst/>
          </a:prstGeom>
          <a:solidFill>
            <a:srgbClr val="E1EFFC"/>
          </a:solidFill>
          <a:ln w="1905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Vendor Profile / Session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5394960"/>
            <a:ext cx="2468880" cy="566928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Micro Ledger / CSV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394960"/>
            <a:ext cx="2468880" cy="566928"/>
          </a:xfrm>
          <a:prstGeom prst="roundRect">
            <a:avLst/>
          </a:prstGeom>
          <a:solidFill>
            <a:srgbClr val="E8F7F2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F2A4A"/>
                </a:solidFill>
                <a:latin typeface="Arial"/>
              </a:rPr>
              <a:t>Knowledge Base / RAG 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572768" y="5212080"/>
            <a:ext cx="0" cy="18288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544568" y="5212080"/>
            <a:ext cx="0" cy="18288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16368" y="5212080"/>
            <a:ext cx="0" cy="182880"/>
          </a:xfrm>
          <a:prstGeom prst="line">
            <a:avLst/>
          </a:prstGeom>
          <a:ln w="1397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5989320"/>
            <a:ext cx="9509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F6973"/>
                </a:solidFill>
                <a:latin typeface="Arial"/>
              </a:rPr>
              <a:t>External outputs: PM SVANidhi portal • ONDC ecosystem • Google Maps • UPI payment apps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D430-4003-EC39-A415-FFDBC613D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74321"/>
            <a:ext cx="7498334" cy="1325880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solidFill>
                  <a:srgbClr val="0F2A4A"/>
                </a:solidFill>
                <a:latin typeface="Arial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D54FD-B046-1573-0CA8-3E7AAFE57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29D44-4385-4635-B1D8-6C39933E0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619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Role of Agentic AI in the Solution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640080" y="1188720"/>
            <a:ext cx="301752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749808" y="1261872"/>
            <a:ext cx="279806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E5AA0"/>
                </a:solidFill>
                <a:latin typeface="Arial"/>
              </a:rPr>
              <a:t>AUTONOMOUS ROUTING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749808" y="1600200"/>
            <a:ext cx="2798063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The agent identifies the vendor’s intent and selects the correct business capability.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3794760" y="1188720"/>
            <a:ext cx="3017520" cy="16916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3904488" y="1261872"/>
            <a:ext cx="279806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704CAA"/>
                </a:solidFill>
                <a:latin typeface="Arial"/>
              </a:rPr>
              <a:t>CONTEXT AWARENESS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904488" y="1600200"/>
            <a:ext cx="2798063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Vendor profile, language, goals and previous ledger state can shape the response.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6949440" y="1188719"/>
            <a:ext cx="3017520" cy="169163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7059168" y="1261872"/>
            <a:ext cx="279806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228B5E"/>
                </a:solidFill>
                <a:latin typeface="Arial"/>
              </a:rPr>
              <a:t>TOOL-DRIVEN ACTION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7059168" y="1518126"/>
            <a:ext cx="2798063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191E23"/>
                </a:solidFill>
                <a:latin typeface="Arial"/>
              </a:rPr>
              <a:t>Instead of only answering, the system can create reports, loan kits, catalogues, QR codes and posters</a:t>
            </a:r>
            <a:r>
              <a:rPr sz="1300" b="0" dirty="0">
                <a:solidFill>
                  <a:srgbClr val="191E23"/>
                </a:solidFill>
                <a:latin typeface="Arial"/>
              </a:rPr>
              <a:t>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40080" y="2880360"/>
            <a:ext cx="9326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rgbClr val="0F2A4A"/>
                </a:solidFill>
                <a:latin typeface="Arial"/>
              </a:rPr>
              <a:t>Specialized task modes</a:t>
            </a:r>
          </a:p>
        </p:txBody>
      </p:sp>
      <p:sp>
        <p:nvSpPr>
          <p:cNvPr id="208" name="Rounded Rectangle 207"/>
          <p:cNvSpPr/>
          <p:nvPr/>
        </p:nvSpPr>
        <p:spPr>
          <a:xfrm>
            <a:off x="731520" y="3429000"/>
            <a:ext cx="2926080" cy="1487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841248" y="3502152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5AA0"/>
                </a:solidFill>
                <a:latin typeface="Arial"/>
              </a:rPr>
              <a:t>Onboarding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841248" y="3840480"/>
            <a:ext cx="27066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E23"/>
                </a:solidFill>
                <a:latin typeface="Arial"/>
              </a:rPr>
              <a:t>Digital identity + UPI + promotion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3977639" y="3429000"/>
            <a:ext cx="2926080" cy="148711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4087368" y="3502152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28B5E"/>
                </a:solidFill>
                <a:latin typeface="Arial"/>
              </a:rPr>
              <a:t>Score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087368" y="3840480"/>
            <a:ext cx="27066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E23"/>
                </a:solidFill>
                <a:latin typeface="Arial"/>
              </a:rPr>
              <a:t>Digital readiness + next actions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7223759" y="3429000"/>
            <a:ext cx="2926080" cy="145725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7333488" y="3502152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67E22"/>
                </a:solidFill>
                <a:latin typeface="Arial"/>
              </a:rPr>
              <a:t>Ledger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333488" y="3840480"/>
            <a:ext cx="27066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191E23"/>
                </a:solidFill>
                <a:latin typeface="Arial"/>
              </a:rPr>
              <a:t>Sales/expense parsing + profit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731520" y="5010912"/>
            <a:ext cx="2926080" cy="1527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896112" y="5257800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8080"/>
                </a:solidFill>
                <a:latin typeface="Arial"/>
              </a:rPr>
              <a:t>Market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841247" y="5634960"/>
            <a:ext cx="270662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Mandi + hyperlocal demand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3977639" y="5010912"/>
            <a:ext cx="2926080" cy="1527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4087367" y="5186874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BE3737"/>
                </a:solidFill>
                <a:latin typeface="Arial"/>
              </a:rPr>
              <a:t>Schemes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087367" y="5586984"/>
            <a:ext cx="27066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E23"/>
                </a:solidFill>
                <a:latin typeface="Arial"/>
              </a:rPr>
              <a:t>PM </a:t>
            </a:r>
            <a:r>
              <a:rPr sz="2400" b="0" dirty="0" err="1">
                <a:solidFill>
                  <a:srgbClr val="191E23"/>
                </a:solidFill>
                <a:latin typeface="Arial"/>
              </a:rPr>
              <a:t>SVANidhi</a:t>
            </a:r>
            <a:r>
              <a:rPr sz="2400" b="0" dirty="0">
                <a:solidFill>
                  <a:srgbClr val="191E23"/>
                </a:solidFill>
                <a:latin typeface="Arial"/>
              </a:rPr>
              <a:t> application kit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7223759" y="5010912"/>
            <a:ext cx="2926080" cy="15270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7333488" y="5257800"/>
            <a:ext cx="270662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704CAA"/>
                </a:solidFill>
                <a:latin typeface="Arial"/>
              </a:rPr>
              <a:t>Commerce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333488" y="5656780"/>
            <a:ext cx="270662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dirty="0">
                <a:solidFill>
                  <a:srgbClr val="191E23"/>
                </a:solidFill>
                <a:latin typeface="Arial"/>
              </a:rPr>
              <a:t>ONDC catalogue + storefront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Model Interaction &amp; Token Usage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731520" y="840836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dirty="0">
                <a:solidFill>
                  <a:srgbClr val="191E23"/>
                </a:solidFill>
                <a:latin typeface="Arial"/>
              </a:rPr>
              <a:t>The application is designed around concise task-oriented prompts so that vendor requests are converted into structured actions.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731520" y="1409774"/>
            <a:ext cx="2743200" cy="136363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841248" y="1584683"/>
            <a:ext cx="2523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E5AA0"/>
                </a:solidFill>
                <a:latin typeface="Arial"/>
              </a:rPr>
              <a:t>BEFORE PROMPT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41248" y="1923011"/>
            <a:ext cx="252374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rial"/>
              </a:rPr>
              <a:t>Short vendor request</a:t>
            </a:r>
            <a:br/>
            <a:r>
              <a:rPr sz="1400" b="0">
                <a:solidFill>
                  <a:srgbClr val="191E23"/>
                </a:solidFill>
                <a:latin typeface="Arial"/>
              </a:rPr>
              <a:t>Example: “Show my sales report”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3794760" y="1409772"/>
            <a:ext cx="2743200" cy="136362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3904488" y="1584683"/>
            <a:ext cx="2523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704CAA"/>
                </a:solidFill>
                <a:latin typeface="Arial"/>
              </a:rPr>
              <a:t>CONTEXT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3904488" y="1923011"/>
            <a:ext cx="252374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rial"/>
              </a:rPr>
              <a:t>Intent + vendor profile + relevant data / retrieved knowledge</a:t>
            </a:r>
          </a:p>
        </p:txBody>
      </p:sp>
      <p:sp>
        <p:nvSpPr>
          <p:cNvPr id="291" name="Rounded Rectangle 290"/>
          <p:cNvSpPr/>
          <p:nvPr/>
        </p:nvSpPr>
        <p:spPr>
          <a:xfrm>
            <a:off x="6858000" y="1409772"/>
            <a:ext cx="2743200" cy="13636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6967728" y="1584683"/>
            <a:ext cx="25237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28B5E"/>
                </a:solidFill>
                <a:latin typeface="Arial"/>
              </a:rPr>
              <a:t>AFTER RESPONSE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967728" y="1923011"/>
            <a:ext cx="2523744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91E23"/>
                </a:solidFill>
                <a:latin typeface="Arial"/>
              </a:rPr>
              <a:t>Actionable result: report, recommendation, checklist or generated asset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3474720" y="2169899"/>
            <a:ext cx="32004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6537960" y="2169899"/>
            <a:ext cx="320040" cy="0"/>
          </a:xfrm>
          <a:prstGeom prst="line">
            <a:avLst/>
          </a:prstGeom>
          <a:ln w="1905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DEC00E5-9BA3-F5A4-8706-43C7207C6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32726"/>
            <a:ext cx="4928616" cy="36252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65594-B620-0843-DB3B-9197A624B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3232726"/>
            <a:ext cx="5602224" cy="36252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D245FA-D516-2FFD-5A40-773FBC28109E}"/>
              </a:ext>
            </a:extLst>
          </p:cNvPr>
          <p:cNvSpPr txBox="1"/>
          <p:nvPr/>
        </p:nvSpPr>
        <p:spPr>
          <a:xfrm>
            <a:off x="1413164" y="2877168"/>
            <a:ext cx="3121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prompt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954CE-F88C-C624-EFE0-3A4B40AA1BAE}"/>
              </a:ext>
            </a:extLst>
          </p:cNvPr>
          <p:cNvSpPr txBox="1"/>
          <p:nvPr/>
        </p:nvSpPr>
        <p:spPr>
          <a:xfrm>
            <a:off x="7106828" y="2797387"/>
            <a:ext cx="21572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prompt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AD8C0-15DD-2B02-A866-0C697C0AE75C}"/>
              </a:ext>
            </a:extLst>
          </p:cNvPr>
          <p:cNvSpPr txBox="1"/>
          <p:nvPr/>
        </p:nvSpPr>
        <p:spPr>
          <a:xfrm>
            <a:off x="9850027" y="1584683"/>
            <a:ext cx="18247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32,960 tokens used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Novelty and Uniqueness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39"/>
            <a:ext cx="4572000" cy="131517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1307592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5AA0"/>
                </a:solidFill>
                <a:latin typeface="Arial"/>
              </a:rPr>
              <a:t>One-Stop Vendor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4352544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Multiple daily business needs are accessed through one conversational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234439"/>
            <a:ext cx="4572000" cy="134729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24728" y="1246037"/>
            <a:ext cx="435254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228B5E"/>
                </a:solidFill>
                <a:latin typeface="Arial"/>
              </a:rPr>
              <a:t>Action-Oriented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4728" y="1645920"/>
            <a:ext cx="435254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91E23"/>
                </a:solidFill>
                <a:latin typeface="Arial"/>
              </a:rPr>
              <a:t>Moves from Q&amp;A to task completion and asset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4572000" cy="147976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2761274"/>
            <a:ext cx="435254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E67E22"/>
                </a:solidFill>
                <a:latin typeface="Arial"/>
              </a:rPr>
              <a:t>Financial Inclusion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01498"/>
            <a:ext cx="435254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Combines micro-accounting with government-scheme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2700281"/>
            <a:ext cx="4572000" cy="150719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24728" y="2745004"/>
            <a:ext cx="435254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704CAA"/>
                </a:solidFill>
                <a:latin typeface="Arial"/>
              </a:rPr>
              <a:t>Digital 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8" y="3154001"/>
            <a:ext cx="435254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ONDC catalogue + UPI + Maps + promotional assets improve discoverability.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25111"/>
            <a:ext cx="4572000" cy="157120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449540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8080"/>
                </a:solidFill>
                <a:latin typeface="Arial"/>
              </a:rPr>
              <a:t>Multilingual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858137"/>
            <a:ext cx="435254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Frontend provides Marathi, Hindi and English language modes.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4325110"/>
            <a:ext cx="4572000" cy="160333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15584" y="4430375"/>
            <a:ext cx="435254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0F2A4A"/>
                </a:solidFill>
                <a:latin typeface="Arial"/>
              </a:rPr>
              <a:t>Practical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5584" y="4815408"/>
            <a:ext cx="435254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Knowledge retrieval supports scheme, fintech, platform and market guidance.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896314"/>
            <a:ext cx="932688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0F2A4A"/>
                </a:solidFill>
                <a:latin typeface="Arial"/>
              </a:rPr>
              <a:t>Result: a proactive digital business companion rather than a generic chatbot.</a:t>
            </a:r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GitHub / Project Repository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731520" y="1280160"/>
            <a:ext cx="4480560" cy="298933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41248" y="1353312"/>
            <a:ext cx="426110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E5AA0"/>
                </a:solidFill>
                <a:latin typeface="Arial"/>
              </a:rPr>
              <a:t>PROJECT SOURCE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981694" y="2014184"/>
            <a:ext cx="4261104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The submitted project package contains the frontend, </a:t>
            </a:r>
            <a:r>
              <a:rPr sz="2000" b="0" dirty="0" err="1">
                <a:solidFill>
                  <a:srgbClr val="191E23"/>
                </a:solidFill>
                <a:latin typeface="Arial"/>
              </a:rPr>
              <a:t>FastAPI</a:t>
            </a:r>
            <a:r>
              <a:rPr sz="2000" b="0" dirty="0">
                <a:solidFill>
                  <a:srgbClr val="191E23"/>
                </a:solidFill>
                <a:latin typeface="Arial"/>
              </a:rPr>
              <a:t> backend, RAG engine, ledger, ONDC, scheme and asset-generation modules.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5486400" y="1280160"/>
            <a:ext cx="4480560" cy="298933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5596128" y="1353312"/>
            <a:ext cx="426110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28B5E"/>
                </a:solidFill>
                <a:latin typeface="Arial"/>
              </a:rPr>
              <a:t>RECOMMENDED REPOSITORY CONTENT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699284" y="2096635"/>
            <a:ext cx="4261104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README.md • </a:t>
            </a:r>
            <a:r>
              <a:rPr sz="2000" b="0" dirty="0" err="1">
                <a:solidFill>
                  <a:srgbClr val="191E23"/>
                </a:solidFill>
                <a:latin typeface="Arial"/>
              </a:rPr>
              <a:t>app.json</a:t>
            </a:r>
            <a:r>
              <a:rPr sz="2000" b="0" dirty="0">
                <a:solidFill>
                  <a:srgbClr val="191E23"/>
                </a:solidFill>
                <a:latin typeface="Arial"/>
              </a:rPr>
              <a:t> • problem statement PDF • final PPT • project source code • tests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893100" y="4790632"/>
            <a:ext cx="92354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>
                <a:solidFill>
                  <a:srgbClr val="0F2A4A"/>
                </a:solidFill>
                <a:latin typeface="Arial"/>
              </a:rPr>
              <a:t>GitHub URL: _</a:t>
            </a:r>
            <a:r>
              <a:rPr lang="en-IN" sz="2000" b="1" dirty="0">
                <a:solidFill>
                  <a:srgbClr val="0F2A4A"/>
                </a:solidFill>
              </a:rPr>
              <a:t>https://github.com/Kamalesh6328/vyapar-mitra-agent.git</a:t>
            </a:r>
            <a:endParaRPr sz="2000" b="1" dirty="0">
              <a:solidFill>
                <a:srgbClr val="0F2A4A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Future Scope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731520" y="1188720"/>
            <a:ext cx="4572000" cy="13990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E5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41248" y="1261872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E5AA0"/>
                </a:solidFill>
                <a:latin typeface="Arial"/>
              </a:rPr>
              <a:t>Voice-first regional interaction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841248" y="1600200"/>
            <a:ext cx="435254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91E23"/>
                </a:solidFill>
                <a:latin typeface="Arial"/>
              </a:rPr>
              <a:t>Add speech input/output for vendors with limited typing ability.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5715000" y="1221714"/>
            <a:ext cx="4572000" cy="135259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5824728" y="1261872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08080"/>
                </a:solidFill>
                <a:latin typeface="Arial"/>
              </a:rPr>
              <a:t>More Indian languages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826014" y="1664461"/>
            <a:ext cx="435254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Extend beyond Marathi/Hindi/English to additional regional languages.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731520" y="2684755"/>
            <a:ext cx="4572000" cy="1501221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841248" y="2706841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228B5E"/>
                </a:solidFill>
                <a:latin typeface="Arial"/>
              </a:rPr>
              <a:t>Live market APIs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841248" y="3091015"/>
            <a:ext cx="435254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Connect verified live mandi/price sources for stronger real-time recommendations.</a:t>
            </a:r>
          </a:p>
        </p:txBody>
      </p:sp>
      <p:sp>
        <p:nvSpPr>
          <p:cNvPr id="293" name="Rounded Rectangle 292"/>
          <p:cNvSpPr/>
          <p:nvPr/>
        </p:nvSpPr>
        <p:spPr>
          <a:xfrm>
            <a:off x="5715000" y="2684754"/>
            <a:ext cx="4572000" cy="1491067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04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5818704" y="2720228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704CAA"/>
                </a:solidFill>
                <a:latin typeface="Arial"/>
              </a:rPr>
              <a:t>Digital credit profile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5824728" y="3098621"/>
            <a:ext cx="4352544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Use consistent ledger history and consented business data to support lender-ready records.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731520" y="4393488"/>
            <a:ext cx="4572000" cy="1950844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841248" y="4540391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E67E22"/>
                </a:solidFill>
                <a:latin typeface="Arial"/>
              </a:rPr>
              <a:t>Deeper ONDC integration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41248" y="5037051"/>
            <a:ext cx="4352544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Move from catalogue generation to production seller-network integration and order lifecycle.</a:t>
            </a:r>
          </a:p>
        </p:txBody>
      </p:sp>
      <p:sp>
        <p:nvSpPr>
          <p:cNvPr id="299" name="Rounded Rectangle 298"/>
          <p:cNvSpPr/>
          <p:nvPr/>
        </p:nvSpPr>
        <p:spPr>
          <a:xfrm>
            <a:off x="5715000" y="4393486"/>
            <a:ext cx="4572000" cy="1950845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F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5897880" y="4566028"/>
            <a:ext cx="43525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2A4A"/>
                </a:solidFill>
                <a:latin typeface="Arial"/>
              </a:rPr>
              <a:t>Mobile / PWA deployment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897880" y="5058012"/>
            <a:ext cx="4352544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91E23"/>
                </a:solidFill>
                <a:latin typeface="Arial"/>
              </a:rPr>
              <a:t>Package the experience for low-bandwidth, mobile-first vendor usage.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3852691" y="2040225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IBM Bob Certificate / Evidence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20BB58-75B4-EDDB-464A-9537E4FF6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822960"/>
            <a:ext cx="11603736" cy="603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4C494-6CF3-45FB-8218-A8862F7E3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E32095-663B-5506-2025-B79FD87CBEF9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B7695-CB6B-C56D-4804-0CF512B110F6}"/>
              </a:ext>
            </a:extLst>
          </p:cNvPr>
          <p:cNvSpPr txBox="1"/>
          <p:nvPr/>
        </p:nvSpPr>
        <p:spPr>
          <a:xfrm>
            <a:off x="3852691" y="2040225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F7FBDA-9C7B-CB13-91D8-510EDF870079}"/>
              </a:ext>
            </a:extLst>
          </p:cNvPr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IBM Bob Certificate / Evidence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04FF84-1D1D-BFDD-1873-75D54ADD1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822959"/>
            <a:ext cx="11622024" cy="60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20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0B07-C676-C955-94E5-15066234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F97AF8-950C-CE2A-5D2B-D37444895EBF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C17268-66C2-8BA2-167A-3153F642D6B8}"/>
              </a:ext>
            </a:extLst>
          </p:cNvPr>
          <p:cNvSpPr txBox="1"/>
          <p:nvPr/>
        </p:nvSpPr>
        <p:spPr>
          <a:xfrm>
            <a:off x="3852691" y="2040225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DB2B7-23A2-F73A-ECD7-152D110CE148}"/>
              </a:ext>
            </a:extLst>
          </p:cNvPr>
          <p:cNvSpPr txBox="1"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4A"/>
                </a:solidFill>
                <a:latin typeface="Arial"/>
              </a:rPr>
              <a:t>IBM Bob Certificate / Evidence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1FD4C4-912A-45DF-95DB-6767DE961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11404091" cy="60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669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B41EC-F019-5CDF-2034-A878398F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826" y="640272"/>
            <a:ext cx="10515600" cy="1124902"/>
          </a:xfrm>
        </p:spPr>
        <p:txBody>
          <a:bodyPr>
            <a:normAutofit fontScale="90000"/>
          </a:bodyPr>
          <a:lstStyle/>
          <a:p>
            <a:br>
              <a:rPr lang="en-US" sz="2800" dirty="0"/>
            </a:br>
            <a:r>
              <a:rPr lang="en-US" sz="2800" dirty="0"/>
              <a:t> </a:t>
            </a:r>
            <a:r>
              <a:rPr lang="en-US" sz="2800" b="1" dirty="0">
                <a:solidFill>
                  <a:srgbClr val="000000"/>
                </a:solidFill>
                <a:latin typeface="Arial"/>
              </a:rPr>
              <a:t>Certificates Earned:</a:t>
            </a:r>
            <a:br>
              <a:rPr lang="en-US" sz="2800" b="1" dirty="0">
                <a:solidFill>
                  <a:srgbClr val="000000"/>
                </a:solidFill>
                <a:latin typeface="Arial"/>
              </a:rPr>
            </a:br>
            <a:r>
              <a:rPr lang="en-US" sz="2800" dirty="0"/>
              <a:t>                        </a:t>
            </a:r>
            <a:br>
              <a:rPr lang="en-US" sz="2800" dirty="0"/>
            </a:br>
            <a:r>
              <a:rPr lang="en-US" sz="2800" dirty="0"/>
              <a:t>                           </a:t>
            </a:r>
            <a:r>
              <a:rPr lang="en-US" sz="3100" b="1" dirty="0"/>
              <a:t>Add your IBM BOB Certificate</a:t>
            </a:r>
            <a:br>
              <a:rPr lang="en-US" sz="2800" b="1" dirty="0"/>
            </a:b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67868-D3FE-09F5-656B-DA9FB1821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2CA852-C0C9-413C-CEB6-95DE2D46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850" y="1399032"/>
            <a:ext cx="10515600" cy="519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13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7FF0-62E3-F459-0FA7-23A7910F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56474-CE7A-993F-8B8C-12AB6C593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Google Shape;310;p20">
            <a:extLst>
              <a:ext uri="{FF2B5EF4-FFF2-40B4-BE49-F238E27FC236}">
                <a16:creationId xmlns:a16="http://schemas.microsoft.com/office/drawing/2014/main" id="{F42A2DE1-6875-C41D-74A3-D13CEE6FB31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768" y="2268537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7888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1239</Words>
  <Application>Microsoft Office PowerPoint</Application>
  <PresentationFormat>Widescreen</PresentationFormat>
  <Paragraphs>184</Paragraphs>
  <Slides>38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Certificates Earned:                                                     Add your IBM BOB Certificate 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Kamalesh Murugappan</cp:lastModifiedBy>
  <cp:revision>16</cp:revision>
  <dcterms:created xsi:type="dcterms:W3CDTF">2025-07-08T05:06:56Z</dcterms:created>
  <dcterms:modified xsi:type="dcterms:W3CDTF">2026-09-11T02:40:20Z</dcterms:modified>
</cp:coreProperties>
</file>